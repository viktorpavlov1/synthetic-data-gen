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6413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726"/>
    <a:srgbClr val="1F2937"/>
    <a:srgbClr val="4B52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>
      <p:cViewPr varScale="1">
        <p:scale>
          <a:sx n="104" d="100"/>
          <a:sy n="104" d="100"/>
        </p:scale>
        <p:origin x="26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5CBCD-2696-47E1-81A4-E424ACF6937D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912EB-7BD9-439B-B7C8-88EE885F27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111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Using SSIM functions- e.g. </a:t>
            </a:r>
            <a:r>
              <a:rPr lang="en-US" b="1" dirty="0"/>
              <a:t>skimage.metrics.structural_similarity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Color histogram similarity – e.g. cv2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12EB-7BD9-439B-B7C8-88EE885F274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0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cv_time</a:t>
            </a:r>
            <a:r>
              <a:rPr lang="en-US" dirty="0"/>
              <a:t> — coefficient of variation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std_time</a:t>
            </a:r>
            <a:r>
              <a:rPr lang="en-US" dirty="0"/>
              <a:t> — standard deviation of time</a:t>
            </a:r>
          </a:p>
          <a:p>
            <a:r>
              <a:rPr lang="en-US" dirty="0"/>
              <a:t>**2 = to the Power of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12EB-7BD9-439B-B7C8-88EE885F274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777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https://services.google.com/fh/files/misc/gemini-for-google-workspace-prompting-guide-101.pdf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912EB-7BD9-439B-B7C8-88EE885F274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77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1172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605020" cy="6858000"/>
          </a:xfrm>
          <a:custGeom>
            <a:avLst/>
            <a:gdLst/>
            <a:ahLst/>
            <a:cxnLst/>
            <a:rect l="l" t="t" r="r" b="b"/>
            <a:pathLst>
              <a:path w="4605020" h="6858000">
                <a:moveTo>
                  <a:pt x="2767376" y="6857999"/>
                </a:moveTo>
                <a:lnTo>
                  <a:pt x="0" y="6857999"/>
                </a:lnTo>
                <a:lnTo>
                  <a:pt x="0" y="2007088"/>
                </a:lnTo>
                <a:lnTo>
                  <a:pt x="537797" y="0"/>
                </a:lnTo>
                <a:lnTo>
                  <a:pt x="4604972" y="0"/>
                </a:lnTo>
                <a:lnTo>
                  <a:pt x="2767376" y="685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2129202" y="0"/>
            <a:ext cx="4885690" cy="6858000"/>
          </a:xfrm>
          <a:custGeom>
            <a:avLst/>
            <a:gdLst/>
            <a:ahLst/>
            <a:cxnLst/>
            <a:rect l="l" t="t" r="r" b="b"/>
            <a:pathLst>
              <a:path w="4885689" h="6858000">
                <a:moveTo>
                  <a:pt x="3047999" y="6857999"/>
                </a:moveTo>
                <a:lnTo>
                  <a:pt x="0" y="6857999"/>
                </a:lnTo>
                <a:lnTo>
                  <a:pt x="1837595" y="0"/>
                </a:lnTo>
                <a:lnTo>
                  <a:pt x="4885595" y="0"/>
                </a:lnTo>
                <a:lnTo>
                  <a:pt x="3047999" y="68579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8534400" y="3200399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3657599" y="3657599"/>
                </a:moveTo>
                <a:lnTo>
                  <a:pt x="0" y="3657599"/>
                </a:lnTo>
                <a:lnTo>
                  <a:pt x="3657599" y="0"/>
                </a:lnTo>
                <a:lnTo>
                  <a:pt x="3657599" y="36575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2667000" cy="2667000"/>
          </a:xfrm>
          <a:custGeom>
            <a:avLst/>
            <a:gdLst/>
            <a:ahLst/>
            <a:cxnLst/>
            <a:rect l="l" t="t" r="r" b="b"/>
            <a:pathLst>
              <a:path w="2667000" h="2667000">
                <a:moveTo>
                  <a:pt x="761999" y="2666999"/>
                </a:moveTo>
                <a:lnTo>
                  <a:pt x="0" y="2285999"/>
                </a:lnTo>
                <a:lnTo>
                  <a:pt x="0" y="0"/>
                </a:lnTo>
                <a:lnTo>
                  <a:pt x="2666999" y="0"/>
                </a:lnTo>
                <a:lnTo>
                  <a:pt x="2666999" y="1714499"/>
                </a:lnTo>
                <a:lnTo>
                  <a:pt x="761999" y="26669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g object 21"/>
          <p:cNvSpPr/>
          <p:nvPr/>
        </p:nvSpPr>
        <p:spPr>
          <a:xfrm>
            <a:off x="10286999" y="5143499"/>
            <a:ext cx="1905000" cy="1714500"/>
          </a:xfrm>
          <a:custGeom>
            <a:avLst/>
            <a:gdLst/>
            <a:ahLst/>
            <a:cxnLst/>
            <a:rect l="l" t="t" r="r" b="b"/>
            <a:pathLst>
              <a:path w="1905000" h="1714500">
                <a:moveTo>
                  <a:pt x="1905000" y="1714500"/>
                </a:moveTo>
                <a:lnTo>
                  <a:pt x="0" y="1714500"/>
                </a:lnTo>
                <a:lnTo>
                  <a:pt x="0" y="666749"/>
                </a:lnTo>
                <a:lnTo>
                  <a:pt x="1333499" y="0"/>
                </a:lnTo>
                <a:lnTo>
                  <a:pt x="1905000" y="285750"/>
                </a:lnTo>
                <a:lnTo>
                  <a:pt x="1905000" y="1714500"/>
                </a:lnTo>
                <a:close/>
              </a:path>
            </a:pathLst>
          </a:custGeom>
          <a:solidFill>
            <a:srgbClr val="374050">
              <a:alpha val="799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9524999" y="476249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857249" y="1714499"/>
                </a:moveTo>
                <a:lnTo>
                  <a:pt x="0" y="1285874"/>
                </a:lnTo>
                <a:lnTo>
                  <a:pt x="0" y="428624"/>
                </a:lnTo>
                <a:lnTo>
                  <a:pt x="857249" y="0"/>
                </a:lnTo>
                <a:lnTo>
                  <a:pt x="1714499" y="428624"/>
                </a:lnTo>
                <a:lnTo>
                  <a:pt x="1714499" y="1285874"/>
                </a:lnTo>
                <a:lnTo>
                  <a:pt x="857249" y="1714499"/>
                </a:lnTo>
                <a:close/>
              </a:path>
            </a:pathLst>
          </a:custGeom>
          <a:solidFill>
            <a:srgbClr val="4A5462">
              <a:alpha val="5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g object 23"/>
          <p:cNvSpPr/>
          <p:nvPr/>
        </p:nvSpPr>
        <p:spPr>
          <a:xfrm>
            <a:off x="952499" y="495299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499" y="1142999"/>
                </a:moveTo>
                <a:lnTo>
                  <a:pt x="0" y="857249"/>
                </a:lnTo>
                <a:lnTo>
                  <a:pt x="0" y="285749"/>
                </a:lnTo>
                <a:lnTo>
                  <a:pt x="571499" y="0"/>
                </a:lnTo>
                <a:lnTo>
                  <a:pt x="1142999" y="285749"/>
                </a:lnTo>
                <a:lnTo>
                  <a:pt x="1142999" y="857249"/>
                </a:lnTo>
                <a:lnTo>
                  <a:pt x="571499" y="1142999"/>
                </a:lnTo>
                <a:close/>
              </a:path>
            </a:pathLst>
          </a:custGeom>
          <a:solidFill>
            <a:srgbClr val="6A7280">
              <a:alpha val="3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g object 24"/>
          <p:cNvSpPr/>
          <p:nvPr/>
        </p:nvSpPr>
        <p:spPr>
          <a:xfrm>
            <a:off x="5629274" y="310514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2191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" y="0"/>
                </a:lnTo>
                <a:lnTo>
                  <a:pt x="12191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14640" y="2235200"/>
            <a:ext cx="3636645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1F2937"/>
                </a:solidFill>
                <a:latin typeface="Liberation Sans"/>
                <a:cs typeface="Liberatio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1F2937"/>
                </a:solidFill>
                <a:latin typeface="Liberation Sans"/>
                <a:cs typeface="Liberatio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286999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428749" y="1904999"/>
                </a:moveTo>
                <a:lnTo>
                  <a:pt x="0" y="1190624"/>
                </a:lnTo>
                <a:lnTo>
                  <a:pt x="0" y="0"/>
                </a:lnTo>
                <a:lnTo>
                  <a:pt x="1904999" y="0"/>
                </a:lnTo>
                <a:lnTo>
                  <a:pt x="1904999" y="1666874"/>
                </a:lnTo>
                <a:lnTo>
                  <a:pt x="1428749" y="1904999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5429249"/>
            <a:ext cx="1905000" cy="1428750"/>
          </a:xfrm>
          <a:custGeom>
            <a:avLst/>
            <a:gdLst/>
            <a:ahLst/>
            <a:cxnLst/>
            <a:rect l="l" t="t" r="r" b="b"/>
            <a:pathLst>
              <a:path w="1905000" h="1428750">
                <a:moveTo>
                  <a:pt x="1904999" y="1428749"/>
                </a:moveTo>
                <a:lnTo>
                  <a:pt x="0" y="1428749"/>
                </a:lnTo>
                <a:lnTo>
                  <a:pt x="0" y="357187"/>
                </a:lnTo>
                <a:lnTo>
                  <a:pt x="714374" y="0"/>
                </a:lnTo>
                <a:lnTo>
                  <a:pt x="1904999" y="595312"/>
                </a:lnTo>
                <a:lnTo>
                  <a:pt x="1904999" y="142874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9753599" y="4419600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2438399" y="2438399"/>
                </a:moveTo>
                <a:lnTo>
                  <a:pt x="0" y="2438399"/>
                </a:lnTo>
                <a:lnTo>
                  <a:pt x="2438399" y="0"/>
                </a:lnTo>
                <a:lnTo>
                  <a:pt x="2438399" y="243839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533399" y="7619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1F2937"/>
                </a:solidFill>
                <a:latin typeface="Liberation Sans"/>
                <a:cs typeface="Liberatio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20750" y="1330325"/>
            <a:ext cx="3610610" cy="403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374050"/>
                </a:solidFill>
                <a:latin typeface="Liberation Sans"/>
                <a:cs typeface="Liberation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1F2937"/>
                </a:solidFill>
                <a:latin typeface="Liberation Sans"/>
                <a:cs typeface="Liberatio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286999" y="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1428749" y="1904999"/>
                </a:moveTo>
                <a:lnTo>
                  <a:pt x="0" y="1190624"/>
                </a:lnTo>
                <a:lnTo>
                  <a:pt x="0" y="0"/>
                </a:lnTo>
                <a:lnTo>
                  <a:pt x="1904999" y="0"/>
                </a:lnTo>
                <a:lnTo>
                  <a:pt x="1904999" y="1666874"/>
                </a:lnTo>
                <a:lnTo>
                  <a:pt x="1428749" y="1904999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5429249"/>
            <a:ext cx="1905000" cy="1428750"/>
          </a:xfrm>
          <a:custGeom>
            <a:avLst/>
            <a:gdLst/>
            <a:ahLst/>
            <a:cxnLst/>
            <a:rect l="l" t="t" r="r" b="b"/>
            <a:pathLst>
              <a:path w="1905000" h="1428750">
                <a:moveTo>
                  <a:pt x="1904999" y="1428749"/>
                </a:moveTo>
                <a:lnTo>
                  <a:pt x="0" y="1428749"/>
                </a:lnTo>
                <a:lnTo>
                  <a:pt x="0" y="357187"/>
                </a:lnTo>
                <a:lnTo>
                  <a:pt x="714374" y="0"/>
                </a:lnTo>
                <a:lnTo>
                  <a:pt x="1904999" y="595312"/>
                </a:lnTo>
                <a:lnTo>
                  <a:pt x="1904999" y="1428749"/>
                </a:lnTo>
                <a:close/>
              </a:path>
            </a:pathLst>
          </a:custGeom>
          <a:solidFill>
            <a:srgbClr val="1F293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9753599" y="4419600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2438399" y="2438399"/>
                </a:moveTo>
                <a:lnTo>
                  <a:pt x="0" y="2438399"/>
                </a:lnTo>
                <a:lnTo>
                  <a:pt x="2438399" y="0"/>
                </a:lnTo>
                <a:lnTo>
                  <a:pt x="2438399" y="243839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96850"/>
            <a:ext cx="5905500" cy="444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1F2937"/>
                </a:solidFill>
                <a:latin typeface="Liberation Sans"/>
                <a:cs typeface="Liberation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viktorpavlov/" TargetMode="External"/><Relationship Id="rId4" Type="http://schemas.openxmlformats.org/officeDocument/2006/relationships/hyperlink" Target="mailto:v.pavlov@student.fontys.n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676400" y="1674390"/>
            <a:ext cx="77724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780539" algn="l"/>
              </a:tabLst>
            </a:pPr>
            <a:r>
              <a:rPr lang="en-US" sz="4500" spc="-10" dirty="0">
                <a:solidFill>
                  <a:srgbClr val="FFFFFF"/>
                </a:solidFill>
              </a:rPr>
              <a:t>Synthetic Data Generation for Skin Cancer</a:t>
            </a:r>
            <a:endParaRPr sz="45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9274" y="3328987"/>
            <a:ext cx="171449" cy="1285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9274" y="3661171"/>
            <a:ext cx="150018" cy="1500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78958" y="3275806"/>
            <a:ext cx="274447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0D5DA"/>
                </a:solidFill>
                <a:latin typeface="Liberation Sans"/>
                <a:cs typeface="Liberation Sans"/>
                <a:hlinkClick r:id="rId4"/>
              </a:rPr>
              <a:t>v.pavlov@student.fontys.nl</a:t>
            </a:r>
            <a:endParaRPr sz="1200" dirty="0">
              <a:latin typeface="Liberation Sans"/>
              <a:cs typeface="Liberation Sans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200" spc="-10" dirty="0">
                <a:solidFill>
                  <a:srgbClr val="D0D5DA"/>
                </a:solidFill>
                <a:latin typeface="Liberation Sans"/>
                <a:cs typeface="Liberation Sans"/>
                <a:hlinkClick r:id="rId5"/>
              </a:rPr>
              <a:t>https://www.linkedin.com/in/viktorpavlov/</a:t>
            </a:r>
            <a:endParaRPr sz="1200" dirty="0"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F03A-9FFB-2FF6-F7B6-476777C32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96850"/>
            <a:ext cx="6565900" cy="346249"/>
          </a:xfrm>
        </p:spPr>
        <p:txBody>
          <a:bodyPr/>
          <a:lstStyle/>
          <a:p>
            <a:r>
              <a:rPr lang="en-US" dirty="0"/>
              <a:t>Background – Image classification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3AE028-4311-85DF-C388-82E9FC88951F}"/>
              </a:ext>
            </a:extLst>
          </p:cNvPr>
          <p:cNvGrpSpPr/>
          <p:nvPr/>
        </p:nvGrpSpPr>
        <p:grpSpPr>
          <a:xfrm>
            <a:off x="1447800" y="2818606"/>
            <a:ext cx="9296400" cy="1143000"/>
            <a:chOff x="381000" y="2437606"/>
            <a:chExt cx="9296400" cy="1143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56C160-00CA-997E-FEF3-69659CC87B37}"/>
                </a:ext>
              </a:extLst>
            </p:cNvPr>
            <p:cNvSpPr/>
            <p:nvPr/>
          </p:nvSpPr>
          <p:spPr>
            <a:xfrm>
              <a:off x="381000" y="2437606"/>
              <a:ext cx="20574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Collection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(Data Generation*)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7C9571-ACB5-0052-F250-C526F634FF2E}"/>
                </a:ext>
              </a:extLst>
            </p:cNvPr>
            <p:cNvSpPr/>
            <p:nvPr/>
          </p:nvSpPr>
          <p:spPr>
            <a:xfrm>
              <a:off x="3593674" y="2437606"/>
              <a:ext cx="25146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 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Training &amp; Evaluation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20B35A-22CA-57AF-A7E3-958B8EC1BE5F}"/>
                </a:ext>
              </a:extLst>
            </p:cNvPr>
            <p:cNvSpPr/>
            <p:nvPr/>
          </p:nvSpPr>
          <p:spPr>
            <a:xfrm>
              <a:off x="7162800" y="2437606"/>
              <a:ext cx="25146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 Use 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in Real world scenarios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(e.g. during diagnosis)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3D427C30-61B5-1B08-7DA9-C592BEC437DF}"/>
                </a:ext>
              </a:extLst>
            </p:cNvPr>
            <p:cNvSpPr/>
            <p:nvPr/>
          </p:nvSpPr>
          <p:spPr>
            <a:xfrm>
              <a:off x="2777720" y="2818606"/>
              <a:ext cx="457200" cy="4572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0B30CFB5-5531-5411-0DCB-660E2DB6957D}"/>
                </a:ext>
              </a:extLst>
            </p:cNvPr>
            <p:cNvSpPr/>
            <p:nvPr/>
          </p:nvSpPr>
          <p:spPr>
            <a:xfrm>
              <a:off x="6442992" y="2818606"/>
              <a:ext cx="457200" cy="4572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1F1C09DA-29F3-3A93-BB9E-0F93E2BC5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8128" y="1675606"/>
            <a:ext cx="1279291" cy="1279291"/>
          </a:xfrm>
          <a:prstGeom prst="rect">
            <a:avLst/>
          </a:prstGeom>
        </p:spPr>
      </p:pic>
      <p:pic>
        <p:nvPicPr>
          <p:cNvPr id="13" name="Graphic 12" descr="Checkbox Checked with solid fill">
            <a:extLst>
              <a:ext uri="{FF2B5EF4-FFF2-40B4-BE49-F238E27FC236}">
                <a16:creationId xmlns:a16="http://schemas.microsoft.com/office/drawing/2014/main" id="{5CE4CA9C-EF0C-B500-CEF4-0B11C662D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7254" y="1675605"/>
            <a:ext cx="1279291" cy="127929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D562DE-BDC7-4C76-1797-6F75B487E3D0}"/>
              </a:ext>
            </a:extLst>
          </p:cNvPr>
          <p:cNvSpPr/>
          <p:nvPr/>
        </p:nvSpPr>
        <p:spPr>
          <a:xfrm>
            <a:off x="1230962" y="2590006"/>
            <a:ext cx="2514600" cy="1600200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6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B351-C75C-004E-91B3-E31387B2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96850"/>
            <a:ext cx="5905500" cy="346249"/>
          </a:xfrm>
        </p:spPr>
        <p:txBody>
          <a:bodyPr/>
          <a:lstStyle/>
          <a:p>
            <a:r>
              <a:rPr lang="en-US" dirty="0"/>
              <a:t>Evaluation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16E92-812E-D4F7-FE6D-FFDA186B9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618377"/>
              </p:ext>
            </p:extLst>
          </p:nvPr>
        </p:nvGraphicFramePr>
        <p:xfrm>
          <a:off x="1981200" y="543099"/>
          <a:ext cx="8128000" cy="148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215471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Generated Images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059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Does it look structurally similar? </a:t>
                      </a:r>
                      <a:r>
                        <a:rPr lang="en-US" i="1" dirty="0"/>
                        <a:t>(Structural Similarity – MSE/SSIM)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36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Does it have similar pigmentation? </a:t>
                      </a:r>
                      <a:r>
                        <a:rPr lang="en-US" i="1" dirty="0"/>
                        <a:t>(Color similarity)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242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 the lesion roughly the same shape and size? </a:t>
                      </a:r>
                      <a:r>
                        <a:rPr lang="en-US" i="1" dirty="0"/>
                        <a:t>(Simple shape &amp; size comparison)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28541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3D01C82-554F-52AB-C8F8-0145A0377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32806"/>
            <a:ext cx="7810500" cy="3124200"/>
          </a:xfrm>
          <a:prstGeom prst="rect">
            <a:avLst/>
          </a:prstGeom>
        </p:spPr>
      </p:pic>
      <p:pic>
        <p:nvPicPr>
          <p:cNvPr id="1026" name="Picture 2" descr="Demystifying Color Histograms: A Guide to Image Processing and Analysis -  Zilliz Learn">
            <a:extLst>
              <a:ext uri="{FF2B5EF4-FFF2-40B4-BE49-F238E27FC236}">
                <a16:creationId xmlns:a16="http://schemas.microsoft.com/office/drawing/2014/main" id="{D911EB05-43AF-3150-A4D9-62FDA90BF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437606"/>
            <a:ext cx="4078604" cy="305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D932CF-C8AA-A5CC-3A0D-D617C211E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37606"/>
            <a:ext cx="4267200" cy="3200400"/>
          </a:xfrm>
          <a:prstGeom prst="rect">
            <a:avLst/>
          </a:prstGeom>
        </p:spPr>
      </p:pic>
      <p:pic>
        <p:nvPicPr>
          <p:cNvPr id="8" name="Picture 7" descr="A white blob on a black background&#10;&#10;AI-generated content may be incorrect.">
            <a:extLst>
              <a:ext uri="{FF2B5EF4-FFF2-40B4-BE49-F238E27FC236}">
                <a16:creationId xmlns:a16="http://schemas.microsoft.com/office/drawing/2014/main" id="{0BB6AFE0-5F48-F2FF-A257-181DA5F165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287" y="2198053"/>
            <a:ext cx="3048000" cy="2286000"/>
          </a:xfrm>
          <a:prstGeom prst="rect">
            <a:avLst/>
          </a:prstGeom>
        </p:spPr>
      </p:pic>
      <p:pic>
        <p:nvPicPr>
          <p:cNvPr id="10" name="Picture 9" descr="A close up of a black and white image&#10;&#10;AI-generated content may be incorrect.">
            <a:extLst>
              <a:ext uri="{FF2B5EF4-FFF2-40B4-BE49-F238E27FC236}">
                <a16:creationId xmlns:a16="http://schemas.microsoft.com/office/drawing/2014/main" id="{FDCA3AFA-11AA-23F4-A84A-96438307A4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4723606"/>
            <a:ext cx="1567173" cy="19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2671EDE-AFD1-90F4-E62C-6075C5ADD19A}"/>
              </a:ext>
            </a:extLst>
          </p:cNvPr>
          <p:cNvSpPr txBox="1"/>
          <p:nvPr/>
        </p:nvSpPr>
        <p:spPr>
          <a:xfrm>
            <a:off x="1244598" y="3591713"/>
            <a:ext cx="96012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avg_power_watts = sum(</a:t>
            </a:r>
            <a:r>
              <a:rPr lang="en-US" dirty="0" err="1"/>
              <a:t>power_readings_watts</a:t>
            </a:r>
            <a:r>
              <a:rPr lang="en-US" dirty="0"/>
              <a:t>) /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power_readings_watts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energy_per_image_Wh = (avg_power_watts * total_time_seconds / 3600.0) / </a:t>
            </a:r>
            <a:r>
              <a:rPr lang="en-US" dirty="0" err="1"/>
              <a:t>num_images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E40D45-6F94-EB52-1910-BDACC8270A7B}"/>
              </a:ext>
            </a:extLst>
          </p:cNvPr>
          <p:cNvSpPr txBox="1"/>
          <p:nvPr/>
        </p:nvSpPr>
        <p:spPr>
          <a:xfrm>
            <a:off x="1054098" y="3466526"/>
            <a:ext cx="9982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seconds_per_image_1 = total_time_seconds_batch1 / num_images_batch1</a:t>
            </a:r>
          </a:p>
          <a:p>
            <a:pPr algn="ctr"/>
            <a:r>
              <a:rPr lang="en-US" dirty="0" err="1"/>
              <a:t>seconds_per_image_B</a:t>
            </a:r>
            <a:r>
              <a:rPr lang="en-US" dirty="0"/>
              <a:t> = </a:t>
            </a:r>
            <a:r>
              <a:rPr lang="en-US" dirty="0" err="1"/>
              <a:t>total_time_seconds_batchB</a:t>
            </a:r>
            <a:r>
              <a:rPr lang="en-US" dirty="0"/>
              <a:t> / </a:t>
            </a:r>
            <a:r>
              <a:rPr lang="en-US" dirty="0" err="1"/>
              <a:t>num_images_batchB</a:t>
            </a:r>
            <a:endParaRPr lang="en-US" dirty="0"/>
          </a:p>
          <a:p>
            <a:pPr algn="ctr"/>
            <a:r>
              <a:rPr lang="en-US" dirty="0" err="1"/>
              <a:t>batch_speedup_factor</a:t>
            </a:r>
            <a:r>
              <a:rPr lang="en-US" dirty="0"/>
              <a:t> = seconds_per_image_1 / </a:t>
            </a:r>
            <a:r>
              <a:rPr lang="en-US" dirty="0" err="1"/>
              <a:t>seconds_per_image_B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26DCEB-C586-B1C3-E90C-6C3774CCCA18}"/>
              </a:ext>
            </a:extLst>
          </p:cNvPr>
          <p:cNvSpPr txBox="1"/>
          <p:nvPr/>
        </p:nvSpPr>
        <p:spPr>
          <a:xfrm>
            <a:off x="1054098" y="3466526"/>
            <a:ext cx="98806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mean_time = sum(</a:t>
            </a:r>
            <a:r>
              <a:rPr lang="en-US" dirty="0" err="1"/>
              <a:t>times_per_prompt</a:t>
            </a:r>
            <a:r>
              <a:rPr lang="en-US" dirty="0"/>
              <a:t>) /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times_per_prompt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std_time = (sum((t - mean_time) ** 2 for t in </a:t>
            </a:r>
            <a:r>
              <a:rPr lang="en-US" dirty="0" err="1"/>
              <a:t>times_per_prompt</a:t>
            </a:r>
            <a:r>
              <a:rPr lang="en-US" dirty="0"/>
              <a:t>) /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times_per_prompt</a:t>
            </a:r>
            <a:r>
              <a:rPr lang="en-US" dirty="0"/>
              <a:t>)) ** 0.5</a:t>
            </a:r>
          </a:p>
          <a:p>
            <a:pPr algn="ctr"/>
            <a:r>
              <a:rPr lang="en-US" dirty="0"/>
              <a:t>cv_time = std_time / mean_time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CFF86-237E-F845-A59A-892D3A98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96850"/>
            <a:ext cx="5905500" cy="346249"/>
          </a:xfrm>
        </p:spPr>
        <p:txBody>
          <a:bodyPr/>
          <a:lstStyle/>
          <a:p>
            <a:r>
              <a:rPr lang="en-US" dirty="0"/>
              <a:t>Evaluation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C830C4-D5B2-EE6F-EBE5-63CA18C4D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480442"/>
              </p:ext>
            </p:extLst>
          </p:nvPr>
        </p:nvGraphicFramePr>
        <p:xfrm>
          <a:off x="1981200" y="543099"/>
          <a:ext cx="8128000" cy="185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215471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Performance Benchmarks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059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Compute cost per image [and per dataset of N size]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36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Energy cost per image (power usage)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1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Batch scaling efficiency (how well the model uses a GPU)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80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Timing stability (how predictable the cost is across prompts)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24254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4653DD7-244E-9876-BFB1-9BD559447CEE}"/>
              </a:ext>
            </a:extLst>
          </p:cNvPr>
          <p:cNvSpPr txBox="1"/>
          <p:nvPr/>
        </p:nvSpPr>
        <p:spPr>
          <a:xfrm>
            <a:off x="2083065" y="3587215"/>
            <a:ext cx="79242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seconds_per_image = total_time_seconds / </a:t>
            </a:r>
            <a:r>
              <a:rPr lang="en-US" dirty="0" err="1"/>
              <a:t>num_images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0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1" grpId="0" animBg="1"/>
      <p:bldP spid="21" grpId="1" animBg="1"/>
      <p:bldP spid="23" grpId="0" animBg="1"/>
      <p:bldP spid="17" grpId="0" animBg="1"/>
      <p:bldP spid="1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648A-F3CA-D969-9185-11A18AC2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96850"/>
            <a:ext cx="5905500" cy="346249"/>
          </a:xfrm>
        </p:spPr>
        <p:txBody>
          <a:bodyPr/>
          <a:lstStyle/>
          <a:p>
            <a:r>
              <a:rPr lang="en-US" dirty="0"/>
              <a:t>Test Scenarios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AEF6B8-8626-8131-B175-6AA3EE138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75943"/>
              </p:ext>
            </p:extLst>
          </p:nvPr>
        </p:nvGraphicFramePr>
        <p:xfrm>
          <a:off x="2032000" y="1523206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99966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414911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154874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22148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Manual prompting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Manual, based on prompt guides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generated prompts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gen.</a:t>
                      </a:r>
                      <a:br>
                        <a:rPr lang="en-US" dirty="0"/>
                      </a:br>
                      <a:r>
                        <a:rPr lang="en-US" dirty="0"/>
                        <a:t>(Guides Ref.)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771897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 1 image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399477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 100 images (1% of original dataset)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38596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 1000 images (10 % of original dataset)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96175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 10000 images (100% of original dataset)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42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869526-6022-7CE1-3D5D-1E59C677D8A2}"/>
              </a:ext>
            </a:extLst>
          </p:cNvPr>
          <p:cNvSpPr txBox="1"/>
          <p:nvPr/>
        </p:nvSpPr>
        <p:spPr>
          <a:xfrm>
            <a:off x="7848600" y="3733006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Time is a constraint!</a:t>
            </a:r>
          </a:p>
        </p:txBody>
      </p:sp>
    </p:spTree>
    <p:extLst>
      <p:ext uri="{BB962C8B-B14F-4D97-AF65-F5344CB8AC3E}">
        <p14:creationId xmlns:p14="http://schemas.microsoft.com/office/powerpoint/2010/main" val="479516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0D5D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470</Words>
  <Application>Microsoft Office PowerPoint</Application>
  <PresentationFormat>Custom</PresentationFormat>
  <Paragraphs>47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Liberation Sans</vt:lpstr>
      <vt:lpstr>Office Theme</vt:lpstr>
      <vt:lpstr>Synthetic Data Generation for Skin Cancer</vt:lpstr>
      <vt:lpstr>Background – Image classification</vt:lpstr>
      <vt:lpstr>Evaluation</vt:lpstr>
      <vt:lpstr>Evaluation</vt:lpstr>
      <vt:lpstr>Test Scenarios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Viktor Pavlov</dc:creator>
  <cp:lastModifiedBy>Pavlov,Viktor V.G.</cp:lastModifiedBy>
  <cp:revision>11</cp:revision>
  <dcterms:created xsi:type="dcterms:W3CDTF">2025-09-01T21:08:59Z</dcterms:created>
  <dcterms:modified xsi:type="dcterms:W3CDTF">2025-12-05T09:29:30Z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2025-09-01T00:00:00Z</vt:filetime>
  </property>
  <property fmtid="{D5CDD505-2E9C-101B-9397-08002B2CF9AE}" pid="3" name="Producer">
    <vt:lpwstr>pypdf</vt:lpwstr>
  </property>
  <property fmtid="{D5CDD505-2E9C-101B-9397-08002B2CF9AE}" pid="4" name="LastSaved">
    <vt:filetime>2025-09-01T00:00:00Z</vt:filetime>
  </property>
</Properties>
</file>